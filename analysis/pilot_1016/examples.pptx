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Spatial-cognition QA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DE3DA"/>
                </a:solidFill>
                <a:latin typeface="Calibri"/>
              </a:rPr>
              <a:t>Generated items — what the model sees · not a frozen eval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Advances so far (generation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 Taxonomy locked: 4 classes × 8 constructs (+ FoR axis)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 SPOC episode → Episode GT (poses, visibility, edges, displacement, layout)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 Generated items: CODE-locked answers + answer_source from metadata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 Frame annotator for GT review (not model input)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 Still upcoming: GT Validator · vision-necessity · FREEZE ·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85741"/>
                </a:solidFill>
                <a:latin typeface="Calibri"/>
              </a:rPr>
              <a:t>Not a frozen eval set — generated items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Generated items — what the model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DE3DA"/>
                </a:solidFill>
                <a:latin typeface="Calibri"/>
              </a:rPr>
              <a:t>Strict GT-backed MC candidates · raw ordered frames · not a frozen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Egocentric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Relation of a visible object to the viewer's current 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Single labeled current view: report the object's bearing in the camera frame.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2 strict GT-backed example(s) selected automatically from the supplied items.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Egocentric encoding  ·  Example 1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9384"/>
                </a:solidFill>
                <a:latin typeface="Calibri"/>
              </a:rPr>
              <a:t>current view · find Vase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4572000" cy="25861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Single current view: bearing in the camera/viewer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Where is the Vase relative to you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B.  ahead of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behind you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D.  to your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D — to your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house_006068 · FoR=egocentric · steps=0→0 · style=concise · house_006068_egocentric_encoding_0_0_Vase_8_32_concise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Egocentric encoding  ·  Example 2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9384"/>
                </a:solidFill>
                <a:latin typeface="Calibri"/>
              </a:rPr>
              <a:t>current view · find Counter Top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4572000" cy="25861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Single current view: bearing in the camera/viewer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Where is the Counter Top relative to you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A.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B.  to your left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behind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D.  ahead of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A — to your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house_007514 · FoR=egocentric · steps=0→0 · style=concise · house_007514_egocentric_encoding_0_0_CounterTop_2_2_concise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Allocentric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Relation between two visible objects in a trusted object-centered frame.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Requires intrinsic object facing (object-frame edges); viewer-relative approximations are rejected.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No strict GT-backed example is available; the next slide explains the blocker.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Allocentric encoding · strict example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1394D"/>
                </a:solidFill>
                <a:latin typeface="Calibri"/>
              </a:rPr>
              <a:t>Definition: Relation between two visible objects in a trusted object-centered frame.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B85741"/>
                </a:solidFill>
                <a:latin typeface="Calibri"/>
              </a:rPr>
              <a:t>Metadata blocker: no trusted reference facing edges object frame empty.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No example is shown because an unprovable item would violate the benchmark's GT-only invariant.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This is an explicit unsupported result, not a missing slide or generation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Spatial working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Recall a previously seen location/relation/count under load and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Ordered frames: encode → navigation delay → query. Relation items recall bearing; count items ask how many of a category you saw.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2 strict GT-backed example(s) selected automatically from the supplied items.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working memory · Example 1 · navigation sequence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26B73"/>
                </a:solidFill>
                <a:latin typeface="Calibri"/>
              </a:rPr>
              <a:t>Ordered stream: count distinct category instances seen up to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Chair</a:t>
            </a:r>
          </a:p>
        </p:txBody>
      </p:sp>
      <p:pic>
        <p:nvPicPr>
          <p:cNvPr id="6" name="Picture 5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9" y="1261872"/>
            <a:ext cx="2327801" cy="1316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61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9384"/>
                </a:solidFill>
                <a:latin typeface="Calibri"/>
              </a:rPr>
              <a:t>navigation · frame 1</a:t>
            </a:r>
          </a:p>
        </p:txBody>
      </p:sp>
      <p:pic>
        <p:nvPicPr>
          <p:cNvPr id="8" name="Picture 7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79" y="1261872"/>
            <a:ext cx="2327801" cy="1316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10" name="Picture 9" descr="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79" y="1261872"/>
            <a:ext cx="2327801" cy="1316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Sequence: 3 frames · delay k=2 navigation steps · raw images shown to the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working memory  ·  Example 1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Chair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2240280" cy="1267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7" name="Picture 6" descr="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96112"/>
            <a:ext cx="2240280" cy="1267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Ordered stream: count distinct category instances seen up to now.
Endpoint recap · full 3-frame navigation on preceding slide(s)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How many distinct Chairs have you seen up to this point?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5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B.  3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2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D. 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B —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house_006068 · FoR=allocentric · steps=0→2 · style=concise · house_006068_spatial_working_memory_recall_count_0_2_Chair_c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working memory · Example 2 · navigation sequence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26B73"/>
                </a:solidFill>
                <a:latin typeface="Calibri"/>
              </a:rPr>
              <a:t>Ordered stream: encode → navigate → recall earlier bearing (gone at query).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House Plant</a:t>
            </a:r>
          </a:p>
        </p:txBody>
      </p:sp>
      <p:pic>
        <p:nvPicPr>
          <p:cNvPr id="6" name="Picture 5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9" y="1261872"/>
            <a:ext cx="2327801" cy="1316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61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9384"/>
                </a:solidFill>
                <a:latin typeface="Calibri"/>
              </a:rPr>
              <a:t>navigation · frame 1</a:t>
            </a:r>
          </a:p>
        </p:txBody>
      </p:sp>
      <p:pic>
        <p:nvPicPr>
          <p:cNvPr id="8" name="Picture 7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79" y="1261872"/>
            <a:ext cx="2327801" cy="1316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10" name="Picture 9" descr="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79" y="1261872"/>
            <a:ext cx="2327801" cy="1316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Sequence: 3 frames · delay k=2 navigation steps · raw images shown to the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working memory  ·  Example 2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House Plant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2240280" cy="1267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7" name="Picture 6" descr="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96112"/>
            <a:ext cx="2240280" cy="1267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Ordered stream: encode → navigate → recall earlier bearing (gone at query).
Endpoint recap · full 3-frame navigation on preceding slide(s)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You last saw the House Plant 2 steps ago: where was it relative to you at that time?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B.  behind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to your left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D.  ahead of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D — ahead of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house_007514 · FoR=egocentric · steps=0→2 · style=concise · house_007514_spatial_working_memory_recall_relation_0_2_Hous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Invisible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Track an object's location after it is hidden and relocated out of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Encode while visible; object moves while hidden; query when still absent — use the destination cue in the question.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No strict GT-backed example is available; the next slide explains the blocker.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Invisible displacement · strict example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1394D"/>
                </a:solidFill>
                <a:latin typeface="Calibri"/>
              </a:rPr>
              <a:t>Definition: Track an object's location after it is hidden and relocated out of view.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B85741"/>
                </a:solidFill>
                <a:latin typeface="Calibri"/>
              </a:rPr>
              <a:t>Metadata blocker: no placement with distinguishable encode hidden query and unique options.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No example is shown because an unprovable item would violate the benchmark's GT-only invariant.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This is an explicit unsupported result, not a missing slide or generation failure.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Spatial updating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Update the bearing of a static object after the viewer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Ordered navigation: encode early, track your motion, report the updated bearing at the final pose.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2 strict GT-backed example(s) selected automatically from the supplied items.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updating · Example 1 · navigation sequence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26B73"/>
                </a:solidFill>
                <a:latin typeface="Calibri"/>
              </a:rPr>
              <a:t>Ordered stream: encode → own motion → updated bearing at final 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Vase</a:t>
            </a:r>
          </a:p>
        </p:txBody>
      </p:sp>
      <p:pic>
        <p:nvPicPr>
          <p:cNvPr id="6" name="Picture 5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9" y="1261872"/>
            <a:ext cx="2327801" cy="1316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61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9384"/>
                </a:solidFill>
                <a:latin typeface="Calibri"/>
              </a:rPr>
              <a:t>navigation · frame 1</a:t>
            </a:r>
          </a:p>
        </p:txBody>
      </p:sp>
      <p:pic>
        <p:nvPicPr>
          <p:cNvPr id="8" name="Picture 7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79" y="1261872"/>
            <a:ext cx="2327801" cy="1316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10" name="Picture 9" descr="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79" y="1261872"/>
            <a:ext cx="2327801" cy="1316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Sequence: 3 frames · delay k=2 navigation steps · raw images shown to the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updating  ·  Example 1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Vase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2240280" cy="1267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7" name="Picture 6" descr="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96112"/>
            <a:ext cx="2240280" cy="1267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Ordered stream: encode → own motion → updated bearing at final pose.
Endpoint recap · full 3-frame navigation on preceding slide(s)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Considering the last 2 navigation steps, where is the Vase relative to you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B.  ahead of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behind you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D.  to your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D — to your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house_006068 · FoR=egocentric · steps=0→2 · style=concise · house_006068_spatial_updating_0_2_Vase_8_32_concise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updating · Example 2 · navigation sequence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26B73"/>
                </a:solidFill>
                <a:latin typeface="Calibri"/>
              </a:rPr>
              <a:t>Ordered stream: encode → own motion → updated bearing at final 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House Plant</a:t>
            </a:r>
          </a:p>
        </p:txBody>
      </p:sp>
      <p:pic>
        <p:nvPicPr>
          <p:cNvPr id="6" name="Picture 5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9" y="1261872"/>
            <a:ext cx="2327801" cy="1316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61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09384"/>
                </a:solidFill>
                <a:latin typeface="Calibri"/>
              </a:rPr>
              <a:t>navigation · frame 1</a:t>
            </a:r>
          </a:p>
        </p:txBody>
      </p:sp>
      <p:pic>
        <p:nvPicPr>
          <p:cNvPr id="8" name="Picture 7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79" y="1261872"/>
            <a:ext cx="2327801" cy="1316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875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10" name="Picture 9" descr="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79" y="1261872"/>
            <a:ext cx="2327801" cy="1316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Sequence: 3 frames · delay k=2 navigation steps · raw images shown to the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Spatial updating  ·  Example 2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encode · last clear view of House Plant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2240280" cy="1267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query · now</a:t>
            </a:r>
          </a:p>
        </p:txBody>
      </p:sp>
      <p:pic>
        <p:nvPicPr>
          <p:cNvPr id="7" name="Picture 6" descr="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96112"/>
            <a:ext cx="2240280" cy="1267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Ordered stream: encode → own motion → updated bearing at final pose.
Endpoint recap · full 3-frame navigation on preceding slide(s)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Considering the last 2 navigation steps, where is the House Plant relative to you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ahead of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B.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behind you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D.  to your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D — to your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house_007514 · FoR=egocentric · steps=0→2 · style=concise · house_007514_spatial_updating_0_2_HousePlant_2_18_concise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Perspective-taking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Imagine standing at landmark A facing B; report where landmark C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Frames are labeled A/B/C (first clear views of each landmark). Answer is C in the imagined A→B frame — not the camera's egocentric bearing.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2 strict GT-backed example(s) selected automatically from the supplied items.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Perspective-taking  ·  Example 1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A · stand here (Automatic Washer)</a:t>
            </a:r>
          </a:p>
        </p:txBody>
      </p:sp>
      <p:pic>
        <p:nvPicPr>
          <p:cNvPr id="5" name="Picture 4" descr="img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1463040" cy="827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B · face toward (Dresser)</a:t>
            </a:r>
          </a:p>
        </p:txBody>
      </p:sp>
      <p:pic>
        <p:nvPicPr>
          <p:cNvPr id="7" name="Picture 6" descr="img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896112"/>
            <a:ext cx="1463040" cy="8275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756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C · locate (Sink)</a:t>
            </a:r>
          </a:p>
        </p:txBody>
      </p:sp>
      <p:pic>
        <p:nvPicPr>
          <p:cNvPr id="9" name="Picture 8" descr="img_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96112"/>
            <a:ext cx="1463040" cy="8275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Imagined pose: stand at Automatic Washer, face Dresser, locate Sink — not the camera’s egocentric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Imagine standing at the Automatic Washer, facing the Dresser. From that position, where is the Sink?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to your left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B.  behind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D.  ahead of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B — behind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house_006068 · FoR=allocentric · steps=47→64 · style=concise · house_006068_perspective_taking_47_64_sink-with-faucet_5_0_0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Perspective-taking  ·  Example 2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A · stand here (Automatic Washer)</a:t>
            </a:r>
          </a:p>
        </p:txBody>
      </p:sp>
      <p:pic>
        <p:nvPicPr>
          <p:cNvPr id="5" name="Picture 4" descr="img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1463040" cy="827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B · face toward (Dresser)</a:t>
            </a:r>
          </a:p>
        </p:txBody>
      </p:sp>
      <p:pic>
        <p:nvPicPr>
          <p:cNvPr id="7" name="Picture 6" descr="img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896112"/>
            <a:ext cx="1463040" cy="8275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7560" y="56692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C · locate (Toilet)</a:t>
            </a:r>
          </a:p>
        </p:txBody>
      </p:sp>
      <p:pic>
        <p:nvPicPr>
          <p:cNvPr id="9" name="Picture 8" descr="img_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96112"/>
            <a:ext cx="1463040" cy="8275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Imagined pose: stand at Automatic Washer, face Dresser, locate Toilet — not the camera’s egocentric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868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Imagine standing at the Automatic Washer, facing the Dresser. From that position, where is the Toilet?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A.  to your left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9384"/>
                </a:solidFill>
                <a:latin typeface="Calibri"/>
              </a:rPr>
              <a:t>B.  behind you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C.  to your right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1394D"/>
                </a:solidFill>
                <a:latin typeface="Calibri"/>
              </a:rPr>
              <a:t>D.  ahead of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384"/>
                </a:solidFill>
                <a:latin typeface="Calibri"/>
              </a:rPr>
              <a:t>Answer: B — behind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house_006068 · FoR=allocentric · steps=47→64 · style=concise · house_006068_perspective_taking_47_64_Toilet_5_1_ObjaAutomat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Route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Retrace a walked source→goal as collected-format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Stills with a letter marker at each landmark's 2D bbox center. The model writes actions; score = continuous xz+heading replay (ObjectNav 1.0 m success / traversed-edge validity / SPL), not exact-match to the stored recorded walk.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No strict GT-backed example is available; the next slide explains the blocker.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5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Route knowledge · strict example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1394D"/>
                </a:solidFill>
                <a:latin typeface="Calibri"/>
              </a:rPr>
              <a:t>Definition: Retrace a walked source→goal as collected-format actions.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B85741"/>
                </a:solidFill>
                <a:latin typeface="Calibri"/>
              </a:rPr>
              <a:t>Metadata blocker: no experienced landmark to landmark walk:geodesic below scene median=85,geodesic euclidean ratio lt 1.1=45,actions unusable=44,geodesic lt 1m=19,goal not after source=6,same snapped node=6,source name eq goal=5.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No example is shown because an unprovable item would violate the benchmark's GT-only invariant.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This is an explicit unsupported result, not a missing slide or generation failure.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Survey-based route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1394D"/>
                </a:solidFill>
                <a:latin typeface="Calibri"/>
              </a:rPr>
              <a:t>Plan a never-walked source→goal from layout (viewed, untraversed).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9384"/>
                </a:solidFill>
                <a:latin typeface="Calibri"/>
              </a:rPr>
              <a:t>How to read the example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Stills with a letter marker at each landmark's 2D bbox center. Reference is a continuous BFS on viewed edges. Score uses viewed-edge validity (must leave the walked graph) and SPL on the viewed subgraph.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26B73"/>
                </a:solidFill>
                <a:latin typeface="Calibri"/>
              </a:rPr>
              <a:t>1 strict GT-backed example(s) selected automatically from the supplied items.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26B73"/>
                </a:solidFill>
                <a:latin typeface="Calibri"/>
              </a:rPr>
              <a:t>Answers are locked by code from episode GT — not invented by an LLM.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Survey-based route planning  ·  Example 1 · question and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source sighted · Window marked with a cyan dot</a:t>
            </a:r>
          </a:p>
        </p:txBody>
      </p:sp>
      <p:pic>
        <p:nvPicPr>
          <p:cNvPr id="5" name="Picture 4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2240280" cy="1267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669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9384"/>
                </a:solidFill>
                <a:latin typeface="Calibri"/>
              </a:rPr>
              <a:t>goal sighted · Pouch</a:t>
            </a:r>
          </a:p>
        </p:txBody>
      </p:sp>
      <p:pic>
        <p:nvPicPr>
          <p:cNvPr id="7" name="Picture 6" descr="fra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96112"/>
            <a:ext cx="2240280" cy="1267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SOURCE (Window marked with a cyan dot) and GOAL (Pouch) carry a letter marker. The panel glyph row shows one valid never-walked plan (continuous BFS). Validity requires viewed edges plus at least one unwalked hop.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6868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Based on what you've seen of this space, list the navigation actions, in order, that go from the Window marked with a cyan dot to the Pouch.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Source, goal, and action walk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860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1394D"/>
                </a:solidFill>
                <a:latin typeface="Calibri"/>
              </a:rPr>
              <a:t>Plan (never walked): Window marked with a cyan dot  →  Pouch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B73"/>
                </a:solidFill>
                <a:latin typeface="Calibri"/>
              </a:rPr>
              <a:t>Evidence: viewed but never walked · continuous BFS reference · scored on viewed edges (28 hops on the stored viewed-edge path)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Stored walk: →  ↓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1394D"/>
                </a:solidFill>
                <a:latin typeface="Calibri"/>
              </a:rPr>
              <a:t>Letter marker at the object bbox center on that still.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26B73"/>
                </a:solidFill>
                <a:latin typeface="Calibri"/>
              </a:rPr>
              <a:t>Score: success = within 1.0 m of the goal (continuous replay); validity = stay on viewed edges and use at least one unwalked hop; efficiency = SPL vs viewed shortest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60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9384"/>
                </a:solidFill>
                <a:latin typeface="Calibri"/>
              </a:rPr>
              <a:t>Stored sequence is analysis-only — any valid walk that meets success/validity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B73"/>
                </a:solidFill>
                <a:latin typeface="Calibri"/>
              </a:rPr>
              <a:t>house_007514 · FoR=allocentric · steps=0→6 · style=concise · house_007514_survey_based_route_planning_0_6_window_2_1_Obja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Taxonomy is the capability axis; FoR is cross-cutting.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Each construct is shown with strict GT-backed examples or an explicit metadata blocker.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Answers are CODE-locked to GT; images shown = model input.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Temporal examples show the ordered frame sequence, not only its endpoints.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1394D"/>
                </a:solidFill>
                <a:latin typeface="Calibri"/>
              </a:rPr>
              <a:t>• Unsupported constructs remain visible as honest metadata gaps.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9384"/>
                </a:solidFill>
                <a:latin typeface="Calibri"/>
              </a:rPr>
              <a:t>• Next wall: validate → vision-necessity → FREEZE → evaluate VLMs.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